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91" r:id="rId3"/>
    <p:sldId id="392" r:id="rId4"/>
    <p:sldId id="333" r:id="rId5"/>
    <p:sldId id="322" r:id="rId6"/>
    <p:sldId id="339" r:id="rId7"/>
    <p:sldId id="388" r:id="rId8"/>
    <p:sldId id="340" r:id="rId9"/>
    <p:sldId id="385" r:id="rId10"/>
    <p:sldId id="325" r:id="rId11"/>
    <p:sldId id="355" r:id="rId12"/>
    <p:sldId id="33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388" y="1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F8635-48AF-4F49-993A-B092136B543C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5CB79-2AFC-4EDF-B5A5-1190273D44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28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>
                <a:solidFill>
                  <a:srgbClr val="333333"/>
                </a:solidFill>
                <a:effectLst/>
                <a:latin typeface="Ubuntu"/>
              </a:rPr>
              <a:t>Do you know how and where to keep 3 copies of your data which are always up to date?</a:t>
            </a:r>
          </a:p>
          <a:p>
            <a:pPr algn="l"/>
            <a:r>
              <a:rPr lang="en-GB" b="0" i="0">
                <a:solidFill>
                  <a:srgbClr val="333333"/>
                </a:solidFill>
                <a:effectLst/>
                <a:latin typeface="Ubuntu"/>
              </a:rPr>
              <a:t>Secure data preservation is very difficult to achieve without institutional support and know-how. One option is cloud storage, but not all data may be put in a public cloud.</a:t>
            </a:r>
          </a:p>
          <a:p>
            <a:pPr algn="l"/>
            <a:r>
              <a:rPr lang="en-GB" b="0" i="0">
                <a:solidFill>
                  <a:srgbClr val="333333"/>
                </a:solidFill>
                <a:effectLst/>
                <a:latin typeface="Ubuntu"/>
              </a:rPr>
              <a:t>You should always check your institutional guidelines and what solutions are available in your organisation.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1C124-7373-F149-A166-BB8240B9FE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62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E2796-9D9B-4DFC-A7D7-C58FC168FE1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144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Acquire</a:t>
            </a:r>
            <a:r>
              <a:rPr lang="en-GB" baseline="0"/>
              <a:t> description at earlier stages, split over the stages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EC2EB-146A-487B-BC60-C531542ADEB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0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52E2-873F-44C5-81EB-5E1D2008B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2E987-4C39-4430-BABE-ACC8182B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C11E7-5E06-49F4-8BCD-FEF78FED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C09B8-A950-4EAD-85F9-C7AB0A23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85C78-8FD4-47D0-B83B-D8B19F38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63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B58A-B70D-4C14-A3F0-860E4001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5A82-3CCE-47AA-9C86-3678A62C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EAF3-6737-433F-B0CF-38AA2CA2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DFE53-6ABD-4BB6-8646-A860117A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9BC1-1F7B-48B7-8627-B6C512AC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0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32C8-A0C6-494B-8351-36579F5F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DBFE3-8B93-4ED0-87DA-2736A9B43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4B5E6-66E0-4734-9F8D-D2087DAD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8BBD-9A55-4696-995A-38ADBD892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F2D2-B8B9-4F6F-9C99-14AD6848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88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641A-B5BC-478B-84E2-0328524B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9C3B-96E6-438E-89CB-25768B8E4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262CC-CFE3-49EE-9F2F-E045F5D40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02B0-6E8C-4915-8951-F4939C03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7083D-1A4D-4016-A939-0182979D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4E31E-7D2C-4682-864A-4ABC25AB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6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2266-7DA7-4610-8040-319C4719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3A775-2E35-4674-85AD-655194B1C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42E79-0B13-41A7-B408-57D038699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3849B-8086-4406-8A9D-C8D5A0C1A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124DF-2EE6-4C31-9496-F471811AC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DC9F1-41C1-4D42-BDE3-9CF871B8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31AC5-1C43-4A9B-8D3D-1637BB37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6B4B5-F53B-424B-9913-E7AF9B32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74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4370-DCCB-4FD4-B6DB-F819441D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93AF1-8CB5-4DB9-9DB4-D058987E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2560B-EEE7-4A1F-87F1-F2E3126D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407BD-F9A6-4605-A539-43793058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0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DFC9C-1D16-4C9E-ADBC-944C4CFB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0282A-0DE3-4AF6-B8AC-9F04EFE1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35487-BFC2-48B8-937B-83E16006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51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06BB-E228-4A02-984F-C980666AC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478D-D191-4859-BBCC-4B2A6EB83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C62A9-E902-41B9-B3A7-44977A045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B8F1B-AB41-4DD7-AEB7-F226D601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8C5DF-2D84-4373-80A4-E7DEDE07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913CA-D915-4FB5-9829-1C16925D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43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EF2D-CAA9-4657-B501-2E8CB6B40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2432B-D87D-4657-B7A7-73452ED3E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769E4-D2ED-494A-8483-E0D505DB0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253E3-203F-49AA-996F-4C110B1C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D41D-6A8E-453C-B1FA-87C7D05E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F9E7A-11EC-438F-9367-9178B0F9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42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5F90-483A-4307-B1B4-9A72727F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A3391-7D3C-4953-A878-035598350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3684C-8B32-4A6A-AC0F-4A869BB9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72D9F-D6E5-47DE-A365-32FE3C21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EF40-2186-457F-9EF7-A7FAD36A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7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425A8-EEE4-4348-829D-1E5BCEA2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6EF7B-3EDE-4570-B21B-B4AB50E8E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E031-9ED2-47C1-937A-BBFEA963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1F159-EBAE-4F70-BE41-8B028739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F8FD-C534-46D3-B71F-2F855FE6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14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2F65D-DAAB-4920-B617-3EEA7D3B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BC166-3BD0-4587-9E0F-294E74686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177AE-CDA4-4818-9B90-15D467AA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BDD4D-3182-49C0-84D3-85ED992C6012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AA71-D90B-41CF-818E-91716B7A7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97EBE-71C1-4EA0-9F3B-C5E776A79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6A191-AA7B-4C5B-AAB0-A9B14B1ACB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65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688/wellcomeopenres.22899.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faircookbook.elixir-europe.org/" TargetMode="External"/><Relationship Id="rId13" Type="http://schemas.openxmlformats.org/officeDocument/2006/relationships/hyperlink" Target="https://book.the-turing-way.org/reproducible-research/reproducible-research/" TargetMode="External"/><Relationship Id="rId18" Type="http://schemas.openxmlformats.org/officeDocument/2006/relationships/hyperlink" Target="https://elixir-europe.org/what-we-offer/guidelines" TargetMode="External"/><Relationship Id="rId3" Type="http://schemas.openxmlformats.org/officeDocument/2006/relationships/hyperlink" Target="https://dmponline.dcc.ac.uk/" TargetMode="External"/><Relationship Id="rId7" Type="http://schemas.openxmlformats.org/officeDocument/2006/relationships/hyperlink" Target="https://zenodo.org/" TargetMode="External"/><Relationship Id="rId12" Type="http://schemas.openxmlformats.org/officeDocument/2006/relationships/hyperlink" Target="https://carpentries-incubator.github.io/fair-bio-practice/" TargetMode="External"/><Relationship Id="rId17" Type="http://schemas.openxmlformats.org/officeDocument/2006/relationships/hyperlink" Target="https://datacarpentry.org/OpenRefine-ecology-lesson/" TargetMode="External"/><Relationship Id="rId2" Type="http://schemas.openxmlformats.org/officeDocument/2006/relationships/hyperlink" Target="https://www.wiki.ed.ac.uk/display/RDMS" TargetMode="External"/><Relationship Id="rId16" Type="http://schemas.openxmlformats.org/officeDocument/2006/relationships/hyperlink" Target="https://librarycarpentry.org/lc-spreadsheets/" TargetMode="External"/><Relationship Id="rId20" Type="http://schemas.openxmlformats.org/officeDocument/2006/relationships/hyperlink" Target="https://www.ebi.ac.uk/training/online/courses/bringing-data-to-life-data-manage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tocols.io/" TargetMode="External"/><Relationship Id="rId11" Type="http://schemas.openxmlformats.org/officeDocument/2006/relationships/hyperlink" Target="https://swcarpentry.github.io/git-novice/" TargetMode="External"/><Relationship Id="rId5" Type="http://schemas.openxmlformats.org/officeDocument/2006/relationships/hyperlink" Target="https://www.benchling.com/" TargetMode="External"/><Relationship Id="rId15" Type="http://schemas.openxmlformats.org/officeDocument/2006/relationships/hyperlink" Target="https://instr.iastate.libguides.com/spreadsheets/home" TargetMode="External"/><Relationship Id="rId10" Type="http://schemas.openxmlformats.org/officeDocument/2006/relationships/hyperlink" Target="https://git.ecdf.ed.ac.uk/" TargetMode="External"/><Relationship Id="rId19" Type="http://schemas.openxmlformats.org/officeDocument/2006/relationships/hyperlink" Target="https://rdmkit.elixir-europe.org/" TargetMode="External"/><Relationship Id="rId4" Type="http://schemas.openxmlformats.org/officeDocument/2006/relationships/hyperlink" Target="https://jupyter.org/" TargetMode="External"/><Relationship Id="rId9" Type="http://schemas.openxmlformats.org/officeDocument/2006/relationships/hyperlink" Target="https://github.com/" TargetMode="External"/><Relationship Id="rId14" Type="http://schemas.openxmlformats.org/officeDocument/2006/relationships/hyperlink" Target="https://carpentries-lab.github.io/good-enough-practices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ki.ed.ac.uk/display/RDMS/" TargetMode="External"/><Relationship Id="rId3" Type="http://schemas.openxmlformats.org/officeDocument/2006/relationships/image" Target="../media/image5.png"/><Relationship Id="rId7" Type="http://schemas.openxmlformats.org/officeDocument/2006/relationships/hyperlink" Target="mailto:bio_rdm@ed.ac.u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wiki.ed.ac.uk/display/RDMS/Research+Data+Management+SynthSys+%28f1sysrdm%29+Ho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9320A0-9D15-43FA-8389-A838B25B6067}"/>
              </a:ext>
            </a:extLst>
          </p:cNvPr>
          <p:cNvSpPr txBox="1"/>
          <p:nvPr/>
        </p:nvSpPr>
        <p:spPr>
          <a:xfrm>
            <a:off x="3273599" y="2662377"/>
            <a:ext cx="53723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chemeClr val="accent1"/>
                </a:solidFill>
              </a:rPr>
              <a:t>Your way to FAIR</a:t>
            </a:r>
          </a:p>
        </p:txBody>
      </p:sp>
    </p:spTree>
    <p:extLst>
      <p:ext uri="{BB962C8B-B14F-4D97-AF65-F5344CB8AC3E}">
        <p14:creationId xmlns:p14="http://schemas.microsoft.com/office/powerpoint/2010/main" val="258557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A40D3-4747-44F6-B415-0124424CF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9" y="155346"/>
            <a:ext cx="11157948" cy="6175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55D8CD-A93B-48D0-8ABC-AF78AD1F09E1}"/>
              </a:ext>
            </a:extLst>
          </p:cNvPr>
          <p:cNvSpPr txBox="1"/>
          <p:nvPr/>
        </p:nvSpPr>
        <p:spPr>
          <a:xfrm>
            <a:off x="170330" y="6456433"/>
            <a:ext cx="101270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Scorza LCT </a:t>
            </a:r>
            <a:r>
              <a:rPr lang="en-GB" sz="1000" b="0" i="1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et al.</a:t>
            </a:r>
            <a:r>
              <a:rPr lang="en-GB" sz="1000" b="0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 Daily life in the Open Biologist’s second job, as a Data Curator- </a:t>
            </a:r>
            <a:r>
              <a:rPr lang="en-GB" sz="1000" b="0" i="0" dirty="0" err="1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Wellcome</a:t>
            </a:r>
            <a:r>
              <a:rPr lang="en-GB" sz="1000" b="0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 Open Res 2024, </a:t>
            </a:r>
            <a:r>
              <a:rPr lang="en-GB" sz="1000" b="1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9</a:t>
            </a:r>
            <a:r>
              <a:rPr lang="en-GB" sz="1000" b="0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:523 (</a:t>
            </a:r>
            <a:r>
              <a:rPr lang="en-GB" sz="1000" b="0" i="0" u="sng" dirty="0">
                <a:solidFill>
                  <a:srgbClr val="009BB2"/>
                </a:solidFill>
                <a:effectLst/>
                <a:latin typeface="Roboto" panose="02000000000000000000" pitchFamily="2" charset="0"/>
                <a:hlinkClick r:id="rId3"/>
              </a:rPr>
              <a:t>https://doi.org/10.12688/wellcomeopenres.22899.1</a:t>
            </a:r>
            <a:r>
              <a:rPr lang="en-GB" sz="1000" b="0" i="0" dirty="0">
                <a:solidFill>
                  <a:srgbClr val="253746"/>
                </a:solidFill>
                <a:effectLst/>
                <a:latin typeface="Roboto" panose="02000000000000000000" pitchFamily="2" charset="0"/>
              </a:rPr>
              <a:t>)</a:t>
            </a:r>
            <a:endParaRPr lang="en-GB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0CE8A-0CD0-43FC-86A1-F611D2C4DA37}"/>
              </a:ext>
            </a:extLst>
          </p:cNvPr>
          <p:cNvSpPr txBox="1"/>
          <p:nvPr/>
        </p:nvSpPr>
        <p:spPr>
          <a:xfrm>
            <a:off x="403412" y="155346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Your actions from now…</a:t>
            </a:r>
          </a:p>
        </p:txBody>
      </p:sp>
    </p:spTree>
    <p:extLst>
      <p:ext uri="{BB962C8B-B14F-4D97-AF65-F5344CB8AC3E}">
        <p14:creationId xmlns:p14="http://schemas.microsoft.com/office/powerpoint/2010/main" val="363044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5D36-FF97-4FEE-B6E8-CF0D90EEDB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Don’t get lost with your data while writing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A7C12-0F1F-4E69-9357-66038229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52" y="1238250"/>
            <a:ext cx="11727448" cy="539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4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It is </a:t>
            </a:r>
            <a:r>
              <a:rPr lang="pl-PL" dirty="0">
                <a:solidFill>
                  <a:schemeClr val="accent1"/>
                </a:solidFill>
              </a:rPr>
              <a:t>easier to be prep</a:t>
            </a:r>
            <a:r>
              <a:rPr lang="en-GB" dirty="0">
                <a:solidFill>
                  <a:schemeClr val="accent1"/>
                </a:solidFill>
              </a:rPr>
              <a:t>a</a:t>
            </a:r>
            <a:r>
              <a:rPr lang="pl-PL" dirty="0">
                <a:solidFill>
                  <a:schemeClr val="accent1"/>
                </a:solidFill>
              </a:rPr>
              <a:t>red than to fake it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It takes time to make the outputs public</a:t>
            </a:r>
          </a:p>
          <a:p>
            <a:r>
              <a:rPr lang="en-GB" dirty="0">
                <a:solidFill>
                  <a:schemeClr val="accent1"/>
                </a:solidFill>
              </a:rPr>
              <a:t>The quality of open outputs is easy to assess</a:t>
            </a:r>
          </a:p>
          <a:p>
            <a:r>
              <a:rPr lang="en-GB" dirty="0">
                <a:solidFill>
                  <a:schemeClr val="accent1"/>
                </a:solidFill>
              </a:rPr>
              <a:t>Timestamps </a:t>
            </a:r>
          </a:p>
          <a:p>
            <a:pPr marL="0" indent="0">
              <a:buNone/>
            </a:pP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6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D6A8BB-6E1B-5E43-83C2-4F8F05A73369}"/>
              </a:ext>
            </a:extLst>
          </p:cNvPr>
          <p:cNvSpPr txBox="1"/>
          <p:nvPr/>
        </p:nvSpPr>
        <p:spPr>
          <a:xfrm>
            <a:off x="948099" y="1355649"/>
            <a:ext cx="100484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Back up (almost) everything created by a human or recorded by a machine as soon as it is created.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Always backup your files in 3 places, at least one should be off-site.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USB sticks are a failure-prone option and are not a valid solution for backup of scientific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A robust backup cannot be achieved manually</a:t>
            </a:r>
            <a:r>
              <a:rPr lang="pl-PL" sz="2800" dirty="0">
                <a:solidFill>
                  <a:srgbClr val="0070C0"/>
                </a:solidFill>
              </a:rPr>
              <a:t> – </a:t>
            </a:r>
            <a:r>
              <a:rPr lang="en-GB" sz="2800" dirty="0">
                <a:solidFill>
                  <a:srgbClr val="0070C0"/>
                </a:solidFill>
              </a:rPr>
              <a:t>your University / Institution should provide a safe network storage solution for data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D34E58-AF9E-4741-A5B2-3ABCF1C4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013"/>
            <a:ext cx="10515600" cy="1325563"/>
          </a:xfrm>
        </p:spPr>
        <p:txBody>
          <a:bodyPr/>
          <a:lstStyle/>
          <a:p>
            <a:r>
              <a:rPr lang="pl-PL" dirty="0">
                <a:solidFill>
                  <a:srgbClr val="0070C0"/>
                </a:solidFill>
              </a:rPr>
              <a:t>Keeping safe </a:t>
            </a:r>
            <a:r>
              <a:rPr lang="en-GB" dirty="0">
                <a:solidFill>
                  <a:srgbClr val="0070C0"/>
                </a:solidFill>
              </a:rPr>
              <a:t>your project files and folders</a:t>
            </a:r>
          </a:p>
        </p:txBody>
      </p:sp>
    </p:spTree>
    <p:extLst>
      <p:ext uri="{BB962C8B-B14F-4D97-AF65-F5344CB8AC3E}">
        <p14:creationId xmlns:p14="http://schemas.microsoft.com/office/powerpoint/2010/main" val="35631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383"/>
            <a:ext cx="10515600" cy="1325563"/>
          </a:xfrm>
        </p:spPr>
        <p:txBody>
          <a:bodyPr>
            <a:normAutofit/>
          </a:bodyPr>
          <a:lstStyle/>
          <a:p>
            <a:br>
              <a:rPr lang="pl-PL" dirty="0">
                <a:solidFill>
                  <a:srgbClr val="0070C0"/>
                </a:solidFill>
              </a:rPr>
            </a:b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376" y="2193785"/>
            <a:ext cx="10515600" cy="622926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70C0"/>
                </a:solidFill>
              </a:rPr>
              <a:t>You are responsible for safety of your data (both storage and access)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56C03-AD85-4C0E-8A8C-1BB4710AB3DC}"/>
              </a:ext>
            </a:extLst>
          </p:cNvPr>
          <p:cNvSpPr txBox="1"/>
          <p:nvPr/>
        </p:nvSpPr>
        <p:spPr>
          <a:xfrm>
            <a:off x="1374464" y="3003550"/>
            <a:ext cx="97954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0070C0"/>
                </a:solidFill>
              </a:rPr>
              <a:t>Back up (almost) everything created by a human or recorded by a machine as soon as it is created.</a:t>
            </a:r>
            <a:endParaRPr lang="pl-PL" sz="1800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800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0070C0"/>
                </a:solidFill>
              </a:rPr>
              <a:t>USB sticks are a failure-prone option and are not a valid solution for backup of scientific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800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0070C0"/>
                </a:solidFill>
              </a:rPr>
              <a:t>Always backup your files in 3 places, at least one should be off-site.</a:t>
            </a:r>
            <a:endParaRPr lang="pl-PL" sz="18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800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0070C0"/>
                </a:solidFill>
              </a:rPr>
              <a:t>A robust backup cannot be achieved manually</a:t>
            </a:r>
            <a:r>
              <a:rPr lang="pl-PL" sz="1800" dirty="0">
                <a:solidFill>
                  <a:srgbClr val="0070C0"/>
                </a:solidFill>
              </a:rPr>
              <a:t> </a:t>
            </a:r>
            <a:endParaRPr lang="en-GB" sz="1800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	</a:t>
            </a:r>
            <a:r>
              <a:rPr lang="en-GB" b="1" dirty="0">
                <a:solidFill>
                  <a:srgbClr val="0070C0"/>
                </a:solidFill>
              </a:rPr>
              <a:t>Y</a:t>
            </a:r>
            <a:r>
              <a:rPr lang="en-GB" sz="1800" b="1" dirty="0">
                <a:solidFill>
                  <a:srgbClr val="0070C0"/>
                </a:solidFill>
              </a:rPr>
              <a:t>our</a:t>
            </a:r>
            <a:r>
              <a:rPr lang="pl-PL" sz="1800" b="1" dirty="0">
                <a:solidFill>
                  <a:srgbClr val="0070C0"/>
                </a:solidFill>
              </a:rPr>
              <a:t> University </a:t>
            </a:r>
            <a:r>
              <a:rPr lang="en-GB" b="1" dirty="0">
                <a:solidFill>
                  <a:srgbClr val="0070C0"/>
                </a:solidFill>
              </a:rPr>
              <a:t>/ Institution should provide you a safe network file storage service solution</a:t>
            </a:r>
            <a:endParaRPr lang="en-GB" sz="18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91E33-BE9C-473B-9160-A7BD3519C3B9}"/>
              </a:ext>
            </a:extLst>
          </p:cNvPr>
          <p:cNvSpPr txBox="1"/>
          <p:nvPr/>
        </p:nvSpPr>
        <p:spPr>
          <a:xfrm>
            <a:off x="700696" y="326431"/>
            <a:ext cx="5566652" cy="1512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4000" dirty="0">
                <a:solidFill>
                  <a:srgbClr val="0070C0"/>
                </a:solidFill>
              </a:rPr>
              <a:t>Your musts</a:t>
            </a:r>
            <a:r>
              <a:rPr lang="en-GB" sz="4000" dirty="0">
                <a:solidFill>
                  <a:srgbClr val="0070C0"/>
                </a:solidFill>
              </a:rPr>
              <a:t>  </a:t>
            </a:r>
            <a:br>
              <a:rPr lang="en-GB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According to policies (University </a:t>
            </a:r>
            <a:r>
              <a:rPr lang="en-GB" sz="2400" dirty="0">
                <a:solidFill>
                  <a:srgbClr val="0070C0"/>
                </a:solidFill>
              </a:rPr>
              <a:t>/ </a:t>
            </a:r>
            <a:r>
              <a:rPr lang="pl-PL" sz="2400" dirty="0">
                <a:solidFill>
                  <a:srgbClr val="0070C0"/>
                </a:solidFill>
              </a:rPr>
              <a:t>funders):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7913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0648D1-6426-4BF0-9ABF-4F0C69665C52}"/>
              </a:ext>
            </a:extLst>
          </p:cNvPr>
          <p:cNvSpPr txBox="1"/>
          <p:nvPr/>
        </p:nvSpPr>
        <p:spPr>
          <a:xfrm>
            <a:off x="977996" y="2554551"/>
            <a:ext cx="89291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</a:rPr>
              <a:t>You </a:t>
            </a:r>
            <a:r>
              <a:rPr lang="en-GB" sz="2400" dirty="0">
                <a:solidFill>
                  <a:srgbClr val="0070C0"/>
                </a:solidFill>
              </a:rPr>
              <a:t>need a </a:t>
            </a:r>
            <a:r>
              <a:rPr lang="pl-PL" sz="2400" dirty="0">
                <a:solidFill>
                  <a:srgbClr val="0070C0"/>
                </a:solidFill>
              </a:rPr>
              <a:t>DMP for your project</a:t>
            </a:r>
          </a:p>
          <a:p>
            <a:endParaRPr lang="pl-PL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</a:rPr>
              <a:t>You have to publish Open Access</a:t>
            </a:r>
          </a:p>
          <a:p>
            <a:endParaRPr lang="pl-PL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</a:rPr>
              <a:t>You have to make available all the data underlying publications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1BF9A-E3C9-4D27-A414-5EB7B3C8A694}"/>
              </a:ext>
            </a:extLst>
          </p:cNvPr>
          <p:cNvSpPr txBox="1"/>
          <p:nvPr/>
        </p:nvSpPr>
        <p:spPr>
          <a:xfrm>
            <a:off x="700696" y="326431"/>
            <a:ext cx="5566652" cy="1512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4000" dirty="0">
                <a:solidFill>
                  <a:srgbClr val="0070C0"/>
                </a:solidFill>
              </a:rPr>
              <a:t>Your musts</a:t>
            </a:r>
            <a:r>
              <a:rPr lang="en-GB" sz="4000" dirty="0">
                <a:solidFill>
                  <a:srgbClr val="0070C0"/>
                </a:solidFill>
              </a:rPr>
              <a:t>  </a:t>
            </a:r>
            <a:br>
              <a:rPr lang="en-GB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According to policies (University</a:t>
            </a:r>
            <a:r>
              <a:rPr lang="en-GB" sz="2400" dirty="0">
                <a:solidFill>
                  <a:srgbClr val="0070C0"/>
                </a:solidFill>
              </a:rPr>
              <a:t> / </a:t>
            </a:r>
            <a:r>
              <a:rPr lang="pl-PL" sz="2400" dirty="0">
                <a:solidFill>
                  <a:srgbClr val="0070C0"/>
                </a:solidFill>
              </a:rPr>
              <a:t>funders):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1038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>
                <a:solidFill>
                  <a:srgbClr val="0070C0"/>
                </a:solidFill>
              </a:rPr>
              <a:t>You want to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729"/>
            <a:ext cx="10515600" cy="482969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0070C0"/>
                </a:solidFill>
              </a:rPr>
              <a:t>Have as many public outputs as possible</a:t>
            </a:r>
            <a:r>
              <a:rPr lang="pl-PL" dirty="0">
                <a:solidFill>
                  <a:srgbClr val="0070C0"/>
                </a:solidFill>
              </a:rPr>
              <a:t>:</a:t>
            </a:r>
          </a:p>
          <a:p>
            <a:pPr marL="0" indent="0">
              <a:buNone/>
            </a:pPr>
            <a:endParaRPr lang="pl-PL" dirty="0">
              <a:solidFill>
                <a:srgbClr val="0070C0"/>
              </a:solidFill>
            </a:endParaRPr>
          </a:p>
          <a:p>
            <a:r>
              <a:rPr lang="pl-PL" dirty="0">
                <a:solidFill>
                  <a:srgbClr val="0070C0"/>
                </a:solidFill>
              </a:rPr>
              <a:t>Datasets in public repositories</a:t>
            </a:r>
          </a:p>
          <a:p>
            <a:r>
              <a:rPr lang="pl-PL" dirty="0">
                <a:solidFill>
                  <a:srgbClr val="0070C0"/>
                </a:solidFill>
              </a:rPr>
              <a:t>Public protocols</a:t>
            </a:r>
          </a:p>
          <a:p>
            <a:r>
              <a:rPr lang="pl-PL" dirty="0">
                <a:solidFill>
                  <a:srgbClr val="0070C0"/>
                </a:solidFill>
              </a:rPr>
              <a:t>Code packages</a:t>
            </a:r>
          </a:p>
          <a:p>
            <a:r>
              <a:rPr lang="pl-PL" dirty="0">
                <a:solidFill>
                  <a:srgbClr val="0070C0"/>
                </a:solidFill>
              </a:rPr>
              <a:t>Public engagement</a:t>
            </a:r>
          </a:p>
          <a:p>
            <a:r>
              <a:rPr lang="pl-PL" dirty="0">
                <a:solidFill>
                  <a:srgbClr val="0070C0"/>
                </a:solidFill>
              </a:rPr>
              <a:t>Involvement in </a:t>
            </a:r>
            <a:r>
              <a:rPr lang="en-GB" dirty="0">
                <a:solidFill>
                  <a:srgbClr val="0070C0"/>
                </a:solidFill>
              </a:rPr>
              <a:t>c</a:t>
            </a:r>
            <a:r>
              <a:rPr lang="pl-PL" dirty="0">
                <a:solidFill>
                  <a:srgbClr val="0070C0"/>
                </a:solidFill>
              </a:rPr>
              <a:t>ommunity groups, student groups etc</a:t>
            </a:r>
            <a:r>
              <a:rPr lang="en-GB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</a:rPr>
              <a:t>(podcasts, University Open Day, Science Festivals, etc) </a:t>
            </a:r>
            <a:endParaRPr lang="pl-PL" dirty="0">
              <a:solidFill>
                <a:srgbClr val="0070C0"/>
              </a:solidFill>
              <a:cs typeface="Calibri"/>
            </a:endParaRPr>
          </a:p>
          <a:p>
            <a:pPr marL="0" indent="0">
              <a:buNone/>
            </a:pPr>
            <a:endParaRPr lang="pl-PL" dirty="0">
              <a:solidFill>
                <a:srgbClr val="0070C0"/>
              </a:solidFill>
              <a:cs typeface="Calibri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70C0"/>
                </a:solidFill>
              </a:rPr>
              <a:t>for your </a:t>
            </a:r>
            <a:r>
              <a:rPr lang="pl-PL" u="sng" dirty="0">
                <a:solidFill>
                  <a:srgbClr val="0070C0"/>
                </a:solidFill>
              </a:rPr>
              <a:t>Narrative CVs</a:t>
            </a:r>
            <a:r>
              <a:rPr lang="en-GB" u="sng" dirty="0">
                <a:solidFill>
                  <a:srgbClr val="0070C0"/>
                </a:solidFill>
              </a:rPr>
              <a:t> (new metrics for evaluating researchers!)</a:t>
            </a:r>
          </a:p>
        </p:txBody>
      </p:sp>
    </p:spTree>
    <p:extLst>
      <p:ext uri="{BB962C8B-B14F-4D97-AF65-F5344CB8AC3E}">
        <p14:creationId xmlns:p14="http://schemas.microsoft.com/office/powerpoint/2010/main" val="57821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3F090-72C0-420D-AD34-BB605BAE27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63" t="12030" r="6826"/>
          <a:stretch/>
        </p:blipFill>
        <p:spPr>
          <a:xfrm>
            <a:off x="591266" y="892274"/>
            <a:ext cx="6552054" cy="39733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53DAD9D-6696-4F26-968D-4C39DFA411D9}"/>
              </a:ext>
            </a:extLst>
          </p:cNvPr>
          <p:cNvSpPr/>
          <p:nvPr/>
        </p:nvSpPr>
        <p:spPr>
          <a:xfrm>
            <a:off x="5280144" y="2157311"/>
            <a:ext cx="1801299" cy="7906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EDC85-12B4-4D11-9E8D-4EE96EECA5F9}"/>
              </a:ext>
            </a:extLst>
          </p:cNvPr>
          <p:cNvSpPr txBox="1"/>
          <p:nvPr/>
        </p:nvSpPr>
        <p:spPr>
          <a:xfrm>
            <a:off x="495014" y="522942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189350-91C4-426C-9406-C867137C8B3D}"/>
              </a:ext>
            </a:extLst>
          </p:cNvPr>
          <p:cNvSpPr txBox="1"/>
          <p:nvPr/>
        </p:nvSpPr>
        <p:spPr>
          <a:xfrm>
            <a:off x="3929105" y="6162801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Publication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13D3ED-51FB-4BD5-AB50-9397E2EC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698" y="3429000"/>
            <a:ext cx="6261135" cy="31031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DFFDB13-B1DC-4214-A4F1-E749C54F3F4B}"/>
              </a:ext>
            </a:extLst>
          </p:cNvPr>
          <p:cNvSpPr/>
          <p:nvPr/>
        </p:nvSpPr>
        <p:spPr>
          <a:xfrm>
            <a:off x="9619534" y="5388538"/>
            <a:ext cx="1801299" cy="7906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4733D3-C487-4EA5-BBA6-5C989FA43D8D}"/>
              </a:ext>
            </a:extLst>
          </p:cNvPr>
          <p:cNvSpPr txBox="1"/>
          <p:nvPr/>
        </p:nvSpPr>
        <p:spPr>
          <a:xfrm>
            <a:off x="495014" y="86998"/>
            <a:ext cx="2668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Example of dataset impact</a:t>
            </a:r>
          </a:p>
        </p:txBody>
      </p:sp>
    </p:spTree>
    <p:extLst>
      <p:ext uri="{BB962C8B-B14F-4D97-AF65-F5344CB8AC3E}">
        <p14:creationId xmlns:p14="http://schemas.microsoft.com/office/powerpoint/2010/main" val="2549822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395EA-2E17-4116-83D1-64C170ADF7D1}"/>
              </a:ext>
            </a:extLst>
          </p:cNvPr>
          <p:cNvSpPr txBox="1"/>
          <p:nvPr/>
        </p:nvSpPr>
        <p:spPr>
          <a:xfrm>
            <a:off x="1059366" y="2207941"/>
            <a:ext cx="813235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accent1"/>
                </a:solidFill>
              </a:rPr>
              <a:t> -  Limited amount of data that can be uploaded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GB" sz="2400" dirty="0">
                <a:solidFill>
                  <a:schemeClr val="accent1"/>
                </a:solidFill>
              </a:rPr>
              <a:t>Dataset not easily discovered on its own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GB" sz="2400" dirty="0">
                <a:solidFill>
                  <a:schemeClr val="accent1"/>
                </a:solidFill>
              </a:rPr>
              <a:t>Publication might not be OA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GB" sz="2400" dirty="0">
                <a:solidFill>
                  <a:schemeClr val="accent1"/>
                </a:solidFill>
              </a:rPr>
              <a:t>Does not provide a DOI for the dataset 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GB" sz="2400" dirty="0">
                <a:solidFill>
                  <a:schemeClr val="accent1"/>
                </a:solidFill>
              </a:rPr>
              <a:t>Repositories hold records that are not related to publications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371B7D-557C-4738-8371-44A1DED72542}"/>
              </a:ext>
            </a:extLst>
          </p:cNvPr>
          <p:cNvSpPr txBox="1">
            <a:spLocks/>
          </p:cNvSpPr>
          <p:nvPr/>
        </p:nvSpPr>
        <p:spPr>
          <a:xfrm>
            <a:off x="305637" y="369782"/>
            <a:ext cx="1119127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>
                <a:solidFill>
                  <a:schemeClr val="accent1"/>
                </a:solidFill>
              </a:rPr>
              <a:t>What about sharing data as “Supplementary Information”? </a:t>
            </a:r>
          </a:p>
        </p:txBody>
      </p:sp>
    </p:spTree>
    <p:extLst>
      <p:ext uri="{BB962C8B-B14F-4D97-AF65-F5344CB8AC3E}">
        <p14:creationId xmlns:p14="http://schemas.microsoft.com/office/powerpoint/2010/main" val="14931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Resources for data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93DC2-7251-437C-B8E9-39DED1BC8AF0}"/>
              </a:ext>
            </a:extLst>
          </p:cNvPr>
          <p:cNvSpPr txBox="1"/>
          <p:nvPr/>
        </p:nvSpPr>
        <p:spPr>
          <a:xfrm>
            <a:off x="742950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of suggested training materials for Open and FAIR data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F3F2C-559C-449D-AE88-6A75F18569A4}"/>
              </a:ext>
            </a:extLst>
          </p:cNvPr>
          <p:cNvSpPr txBox="1"/>
          <p:nvPr/>
        </p:nvSpPr>
        <p:spPr>
          <a:xfrm>
            <a:off x="8484841" y="1506022"/>
            <a:ext cx="422136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BioRDM wiki</a:t>
            </a: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2"/>
              </a:rPr>
              <a:t>https://www.wiki.ed.ac.uk/display/RDMS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 err="1">
                <a:solidFill>
                  <a:srgbClr val="485365"/>
                </a:solidFill>
                <a:effectLst/>
                <a:latin typeface="Quicksand"/>
              </a:rPr>
              <a:t>DMPOnline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3"/>
              </a:rPr>
              <a:t>https://dmponline.dcc.ac.uk</a:t>
            </a:r>
            <a:endParaRPr lang="en-GB" sz="1100" b="0" i="0" dirty="0">
              <a:solidFill>
                <a:srgbClr val="2E96F3"/>
              </a:solidFill>
              <a:effectLst/>
              <a:latin typeface="Quicksand"/>
            </a:endParaRPr>
          </a:p>
          <a:p>
            <a:pPr algn="l"/>
            <a:endParaRPr lang="en-GB" sz="1100" b="0" i="0" dirty="0">
              <a:solidFill>
                <a:srgbClr val="2E96F3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Jupyter notebook</a:t>
            </a: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4"/>
              </a:rPr>
              <a:t>https://jupyter.org/</a:t>
            </a:r>
            <a:b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</a:b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 err="1">
                <a:solidFill>
                  <a:srgbClr val="485365"/>
                </a:solidFill>
                <a:effectLst/>
                <a:latin typeface="Quicksand"/>
              </a:rPr>
              <a:t>Benchling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5"/>
              </a:rPr>
              <a:t>https://www.benchling.com/</a:t>
            </a:r>
            <a:b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</a:b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Protocols.io</a:t>
            </a: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6"/>
              </a:rPr>
              <a:t>https://www.protocols.io/</a:t>
            </a:r>
            <a:b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</a:b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Zenodo</a:t>
            </a: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7"/>
              </a:rPr>
              <a:t>https://zenodo.org/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</a:p>
          <a:p>
            <a:pPr algn="l"/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 err="1">
                <a:solidFill>
                  <a:srgbClr val="485365"/>
                </a:solidFill>
                <a:effectLst/>
                <a:latin typeface="Quicksand"/>
              </a:rPr>
              <a:t>FAIRification</a:t>
            </a:r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 of you project (FAIR cookbook)</a:t>
            </a:r>
          </a:p>
          <a:p>
            <a:pPr algn="l"/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8"/>
              </a:rPr>
              <a:t>https://faircookbook.elixir-europe.org/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  <a:r>
              <a:rPr lang="en-GB" sz="1100" b="0" i="0" dirty="0" err="1">
                <a:solidFill>
                  <a:srgbClr val="485365"/>
                </a:solidFill>
                <a:effectLst/>
                <a:latin typeface="Quicksand"/>
              </a:rPr>
              <a:t>Github</a:t>
            </a:r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/ GitLab</a:t>
            </a: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9"/>
              </a:rPr>
              <a:t>https://github.com/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10"/>
              </a:rPr>
              <a:t>https://git.ecdf.ed.ac.uk/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b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</a:br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Version control with Git - self paced course</a:t>
            </a:r>
          </a:p>
          <a:p>
            <a:pPr algn="l"/>
            <a:r>
              <a:rPr lang="en-GB" sz="1100" b="0" i="0" dirty="0">
                <a:solidFill>
                  <a:srgbClr val="485365"/>
                </a:solidFill>
                <a:effectLst/>
                <a:latin typeface="Quicksand"/>
              </a:rPr>
              <a:t> </a:t>
            </a:r>
            <a:r>
              <a:rPr lang="en-GB" sz="1100" b="0" i="0" dirty="0">
                <a:solidFill>
                  <a:srgbClr val="2E96F3"/>
                </a:solidFill>
                <a:effectLst/>
                <a:latin typeface="Quicksand"/>
                <a:hlinkClick r:id="rId11"/>
              </a:rPr>
              <a:t>https://swcarpentry.github.io/git-novice/</a:t>
            </a:r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pPr algn="l"/>
            <a:endParaRPr lang="en-GB" sz="1100" b="0" i="0" dirty="0">
              <a:solidFill>
                <a:srgbClr val="485365"/>
              </a:solidFill>
              <a:effectLst/>
              <a:latin typeface="Quicksand"/>
            </a:endParaRPr>
          </a:p>
          <a:p>
            <a:endParaRPr lang="en-GB" sz="11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81C3EE-5C99-49B6-8504-977E35DA1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064370"/>
              </p:ext>
            </p:extLst>
          </p:nvPr>
        </p:nvGraphicFramePr>
        <p:xfrm>
          <a:off x="495300" y="2077222"/>
          <a:ext cx="7667625" cy="421291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33750">
                  <a:extLst>
                    <a:ext uri="{9D8B030D-6E8A-4147-A177-3AD203B41FA5}">
                      <a16:colId xmlns:a16="http://schemas.microsoft.com/office/drawing/2014/main" val="2275107173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1902677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FAIR in (biological) Practice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2"/>
                        </a:rPr>
                        <a:t>https://carpentries-incubator.github.io/fair-bio-practice/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261158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The Turing Way guide for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reproducible research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3"/>
                        </a:rPr>
                        <a:t>https://book.the-turing-way.org/reproducible-research/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u="sng" dirty="0">
                          <a:effectLst/>
                          <a:hlinkClick r:id="rId13"/>
                        </a:rPr>
                        <a:t>reproducible-research/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8362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Good enough practices in scientific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computing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4"/>
                        </a:rPr>
                        <a:t>https://carpentries-lab.github.io/good-enough-practices/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92907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Escape from spreadsheet hell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5"/>
                        </a:rPr>
                        <a:t>https://instr.iastate.libguides.com/spreadsheets/home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024566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Library Carpentry: Tidy data for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Librarians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6"/>
                        </a:rPr>
                        <a:t>https://librarycarpentry.org/lc-spreadsheets/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69784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Version control with Git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1"/>
                        </a:rPr>
                        <a:t>https://swcarpentry.github.io/git-novice/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815327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Data cleaning with </a:t>
                      </a:r>
                      <a:r>
                        <a:rPr lang="en-US" sz="1400" b="1" dirty="0" err="1">
                          <a:effectLst/>
                        </a:rPr>
                        <a:t>OpenRefine</a:t>
                      </a:r>
                      <a:r>
                        <a:rPr lang="en-US" sz="1400" b="1" dirty="0">
                          <a:effectLst/>
                        </a:rPr>
                        <a:t> for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Ecologists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7"/>
                        </a:rPr>
                        <a:t>https://datacarpentry.org/OpenRefine-ecology-lesson/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470363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ELIXIR guidelines and best practices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18"/>
                        </a:rPr>
                        <a:t>https://elixir-europe.org/what-we-offer/guidelines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u="sng" dirty="0">
                          <a:effectLst/>
                          <a:hlinkClick r:id="rId8"/>
                        </a:rPr>
                        <a:t>https://faircookbook.elixir-europe.org/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u="sng" dirty="0">
                          <a:effectLst/>
                          <a:hlinkClick r:id="rId19"/>
                        </a:rPr>
                        <a:t>https://rdmkit.elixir-europe.org/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4101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Bringing data to life: Data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management for the biomolecular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sciences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u="sng" dirty="0">
                          <a:effectLst/>
                          <a:hlinkClick r:id="rId20"/>
                        </a:rPr>
                        <a:t>https://www.ebi.ac.uk/training/online/courses/bringing-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u="sng" dirty="0">
                          <a:effectLst/>
                          <a:hlinkClick r:id="rId20"/>
                        </a:rPr>
                        <a:t>data-to-life-data-management/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33271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89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 txBox="1">
            <a:spLocks/>
          </p:cNvSpPr>
          <p:nvPr/>
        </p:nvSpPr>
        <p:spPr bwMode="auto">
          <a:xfrm>
            <a:off x="3604261" y="193664"/>
            <a:ext cx="6097088" cy="60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GB" sz="3200" kern="1200" dirty="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 </a:t>
            </a:r>
            <a:r>
              <a:rPr lang="pl-PL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part of </a:t>
            </a:r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pl-PL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GB" sz="2800" ker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itle 1"/>
          <p:cNvSpPr>
            <a:spLocks noGrp="1"/>
          </p:cNvSpPr>
          <p:nvPr>
            <p:ph type="title"/>
          </p:nvPr>
        </p:nvSpPr>
        <p:spPr>
          <a:xfrm>
            <a:off x="1972234" y="4519869"/>
            <a:ext cx="8229600" cy="5546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>
                <a:solidFill>
                  <a:srgbClr val="0D3C69"/>
                </a:solidFill>
              </a:rPr>
              <a:t>Need help? </a:t>
            </a:r>
            <a:r>
              <a:rPr lang="pl-PL" sz="3600">
                <a:solidFill>
                  <a:srgbClr val="0D3C69"/>
                </a:solidFill>
              </a:rPr>
              <a:t>Just come talk to us!</a:t>
            </a:r>
            <a:endParaRPr lang="en-GB" sz="3600">
              <a:solidFill>
                <a:srgbClr val="C00000"/>
              </a:solidFill>
              <a:cs typeface="Calibri Light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354980" y="109208"/>
            <a:ext cx="8229600" cy="852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40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2C59FC-2CE1-4102-ADD0-E896A1B2B14B}"/>
              </a:ext>
            </a:extLst>
          </p:cNvPr>
          <p:cNvGrpSpPr/>
          <p:nvPr/>
        </p:nvGrpSpPr>
        <p:grpSpPr>
          <a:xfrm>
            <a:off x="1524000" y="4482"/>
            <a:ext cx="9144000" cy="914400"/>
            <a:chOff x="0" y="4482"/>
            <a:chExt cx="9144000" cy="9144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9C6BD41-BED1-4B13-AB67-B72A7556CBD7}"/>
                </a:ext>
              </a:extLst>
            </p:cNvPr>
            <p:cNvGrpSpPr/>
            <p:nvPr/>
          </p:nvGrpSpPr>
          <p:grpSpPr>
            <a:xfrm>
              <a:off x="0" y="4482"/>
              <a:ext cx="9144000" cy="914400"/>
              <a:chOff x="0" y="4482"/>
              <a:chExt cx="9144000" cy="9144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F37706-50D6-47C2-AF05-B7621B023A5B}"/>
                  </a:ext>
                </a:extLst>
              </p:cNvPr>
              <p:cNvSpPr/>
              <p:nvPr/>
            </p:nvSpPr>
            <p:spPr>
              <a:xfrm>
                <a:off x="0" y="4482"/>
                <a:ext cx="9144000" cy="914400"/>
              </a:xfrm>
              <a:prstGeom prst="rect">
                <a:avLst/>
              </a:prstGeom>
              <a:solidFill>
                <a:srgbClr val="0D3C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9830BE-BDD7-49E9-8321-36A6EC7F82D7}"/>
                  </a:ext>
                </a:extLst>
              </p:cNvPr>
              <p:cNvSpPr/>
              <p:nvPr/>
            </p:nvSpPr>
            <p:spPr>
              <a:xfrm>
                <a:off x="6176682" y="76199"/>
                <a:ext cx="2805952" cy="7261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8" descr="A close up of a logo&#10;&#10;Description generated with very high confidence">
                <a:extLst>
                  <a:ext uri="{FF2B5EF4-FFF2-40B4-BE49-F238E27FC236}">
                    <a16:creationId xmlns:a16="http://schemas.microsoft.com/office/drawing/2014/main" id="{E31EB662-C36F-429D-ACC2-CCFD2760B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6682" y="74239"/>
                <a:ext cx="2743200" cy="721099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66A901-4FAB-4B1E-B88C-56728BCFDED9}"/>
                </a:ext>
              </a:extLst>
            </p:cNvPr>
            <p:cNvSpPr txBox="1"/>
            <p:nvPr/>
          </p:nvSpPr>
          <p:spPr>
            <a:xfrm>
              <a:off x="528357" y="142874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D8D8D8"/>
                  </a:solidFill>
                  <a:latin typeface="Arial"/>
                  <a:cs typeface="Arial"/>
                </a:rPr>
                <a:t>Biological Research</a:t>
              </a:r>
            </a:p>
            <a:p>
              <a:r>
                <a:rPr lang="en-US">
                  <a:solidFill>
                    <a:srgbClr val="D8D8D8"/>
                  </a:solidFill>
                  <a:latin typeface="Arial"/>
                  <a:cs typeface="Arial"/>
                </a:rPr>
                <a:t>Data Management Team</a:t>
              </a:r>
            </a:p>
          </p:txBody>
        </p:sp>
      </p:grpSp>
      <p:pic>
        <p:nvPicPr>
          <p:cNvPr id="3" name="Picture 3" descr="A drawing of a person&#10;&#10;Description generated with high confidence">
            <a:hlinkClick r:id="rId4"/>
            <a:extLst>
              <a:ext uri="{FF2B5EF4-FFF2-40B4-BE49-F238E27FC236}">
                <a16:creationId xmlns:a16="http://schemas.microsoft.com/office/drawing/2014/main" id="{FB23C5FE-66FB-4120-B909-BB1606FCE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196" y="1249874"/>
            <a:ext cx="2936500" cy="2936500"/>
          </a:xfrm>
          <a:prstGeom prst="rect">
            <a:avLst/>
          </a:prstGeom>
        </p:spPr>
      </p:pic>
      <p:pic>
        <p:nvPicPr>
          <p:cNvPr id="5" name="Picture 12" descr="A close up of a logo&#10;&#10;Description generated with very high confidence">
            <a:hlinkClick r:id="rId4"/>
            <a:extLst>
              <a:ext uri="{FF2B5EF4-FFF2-40B4-BE49-F238E27FC236}">
                <a16:creationId xmlns:a16="http://schemas.microsoft.com/office/drawing/2014/main" id="{35D5822D-BB8F-42BB-BF88-9BEACCAFA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412" y="1197615"/>
            <a:ext cx="5217458" cy="2987231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B6E17F5-4897-4F54-BAAD-8AA69CF8C6AF}"/>
              </a:ext>
            </a:extLst>
          </p:cNvPr>
          <p:cNvSpPr txBox="1">
            <a:spLocks/>
          </p:cNvSpPr>
          <p:nvPr/>
        </p:nvSpPr>
        <p:spPr>
          <a:xfrm>
            <a:off x="1972235" y="5372573"/>
            <a:ext cx="8397379" cy="9953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200" b="1" err="1">
                <a:solidFill>
                  <a:srgbClr val="00B0F0"/>
                </a:solidFill>
                <a:hlinkClick r:id="rId7"/>
              </a:rPr>
              <a:t>bio_rdm@ed.ac.u</a:t>
            </a:r>
            <a:r>
              <a:rPr lang="pl-PL" sz="3200" b="1">
                <a:solidFill>
                  <a:srgbClr val="00B0F0"/>
                </a:solidFill>
                <a:hlinkClick r:id="rId7"/>
              </a:rPr>
              <a:t>k</a:t>
            </a:r>
            <a:endParaRPr lang="pl-PL" sz="3200" b="1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GB" sz="3200">
                <a:hlinkClick r:id="rId8"/>
              </a:rPr>
              <a:t>https://www.wiki.ed.ac.uk/display/RDMS/</a:t>
            </a:r>
            <a:endParaRPr lang="en-GB" sz="3200" b="1">
              <a:solidFill>
                <a:srgbClr val="00B0F0"/>
              </a:solidFill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831BA-E0D8-4EEC-809E-153921F91E6E}"/>
              </a:ext>
            </a:extLst>
          </p:cNvPr>
          <p:cNvSpPr txBox="1"/>
          <p:nvPr/>
        </p:nvSpPr>
        <p:spPr>
          <a:xfrm>
            <a:off x="2818769" y="5976436"/>
            <a:ext cx="68825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/>
              <a:t> 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4173316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859</Words>
  <Application>Microsoft Office PowerPoint</Application>
  <PresentationFormat>Widescreen</PresentationFormat>
  <Paragraphs>111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Quicksand</vt:lpstr>
      <vt:lpstr>Roboto</vt:lpstr>
      <vt:lpstr>Ubuntu</vt:lpstr>
      <vt:lpstr>Wingdings</vt:lpstr>
      <vt:lpstr>Office Theme</vt:lpstr>
      <vt:lpstr>PowerPoint Presentation</vt:lpstr>
      <vt:lpstr>PowerPoint Presentation</vt:lpstr>
      <vt:lpstr>PowerPoint Presentation</vt:lpstr>
      <vt:lpstr>It is easier to be prepared than to fake it</vt:lpstr>
      <vt:lpstr>Keeping safe your project files and folders</vt:lpstr>
      <vt:lpstr> </vt:lpstr>
      <vt:lpstr>PowerPoint Presentation</vt:lpstr>
      <vt:lpstr>You want to</vt:lpstr>
      <vt:lpstr>PowerPoint Presentation</vt:lpstr>
      <vt:lpstr>PowerPoint Presentation</vt:lpstr>
      <vt:lpstr>Resources for data management</vt:lpstr>
      <vt:lpstr>Need help? Just come talk to us!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Livia Scorza</dc:creator>
  <cp:lastModifiedBy>Livia Scorza</cp:lastModifiedBy>
  <cp:revision>7</cp:revision>
  <dcterms:created xsi:type="dcterms:W3CDTF">2025-01-23T13:36:35Z</dcterms:created>
  <dcterms:modified xsi:type="dcterms:W3CDTF">2025-01-23T16:54:42Z</dcterms:modified>
</cp:coreProperties>
</file>